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GM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73952"/>
            <a:ext cx="11277295" cy="45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8A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PRIVILEGED &amp; CONFIDENTIAL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5592928" y="6611112"/>
            <a:ext cx="91440" cy="91440"/>
          </a:xfrm>
          <a:prstGeom prst="rect">
            <a:avLst/>
          </a:prstGeom>
          <a:solidFill>
            <a:srgbClr val="008236"/>
          </a:solidFill>
          <a:ln w="12700">
            <a:solidFill>
              <a:srgbClr val="0082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30088" y="6565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augment code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820095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72998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DM Mono"/>
                <a:ea typeface="DM Mono"/>
                <a:cs typeface="DM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GMENT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73952"/>
            <a:ext cx="11277295" cy="45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8A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PRIVILEGED &amp; CONFIDENTIAL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5592928" y="6611112"/>
            <a:ext cx="91440" cy="91440"/>
          </a:xfrm>
          <a:prstGeom prst="rect">
            <a:avLst/>
          </a:prstGeom>
          <a:solidFill>
            <a:srgbClr val="008236"/>
          </a:solidFill>
          <a:ln w="12700">
            <a:solidFill>
              <a:srgbClr val="0082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30088" y="6565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augment code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820095" y="6565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72998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DM Mono"/>
                <a:ea typeface="DM Mono"/>
                <a:cs typeface="DM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72998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DM Mono"/>
                <a:ea typeface="DM Mono"/>
                <a:cs typeface="DM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823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BRAND STYLE SAMPLE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Software Agent Company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reference deck generated entirely from the augment-slides-skill helpers.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72998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DM Mono"/>
                <a:ea typeface="DM Mono"/>
                <a:cs typeface="DM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548640" cy="54864"/>
          </a:xfrm>
          <a:prstGeom prst="rect">
            <a:avLst/>
          </a:prstGeom>
          <a:solidFill>
            <a:srgbClr val="008236"/>
          </a:solidFill>
          <a:ln w="12700">
            <a:solidFill>
              <a:srgbClr val="008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0632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823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112772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shifted, and so did our delivery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72998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DM Mono"/>
                <a:ea typeface="DM Mono"/>
                <a:cs typeface="DM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457200"/>
            <a:ext cx="106555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823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CONTEXT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457200" cy="457200"/>
          </a:xfrm>
          <a:prstGeom prst="rect">
            <a:avLst/>
          </a:prstGeom>
          <a:solidFill>
            <a:srgbClr val="008236"/>
          </a:solidFill>
          <a:ln w="12700">
            <a:solidFill>
              <a:srgbClr val="0082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95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749808"/>
            <a:ext cx="106555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forces converging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1127729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09928"/>
            <a:ext cx="112772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➔"/>
            </a:pPr>
            <a:r>
              <a:rPr lang="en-US" sz="14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code volume is exploding across the SDLC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➔"/>
            </a:pPr>
            <a:r>
              <a:rPr lang="en-US" sz="14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attention is the new bottleneck</a:t>
            </a:r>
            <a:endParaRPr lang="en-US" sz="1400" dirty="0"/>
          </a:p>
          <a:p>
            <a:pPr lvl="1" marL="457200" indent="-228600"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Subtle defects slip past CI when context is missing</a:t>
            </a:r>
            <a:endParaRPr lang="en-US" sz="1400" dirty="0"/>
          </a:p>
          <a:p>
            <a:pPr lvl="1" marL="457200" indent="-228600"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incidents follow weeks later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➔"/>
            </a:pPr>
            <a:r>
              <a:rPr lang="en-US" sz="14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 closes the gap between code written and production-ready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72998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DM Mono"/>
                <a:ea typeface="DM Mono"/>
                <a:cs typeface="DM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elite teams achieve with Augment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3576218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0"/>
            <a:ext cx="32104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0082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Throughput per engineer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07738" y="2194560"/>
            <a:ext cx="3576218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0618" y="2468880"/>
            <a:ext cx="32104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0082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490618" y="384048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time from failure to fix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8277" y="2194560"/>
            <a:ext cx="3576218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41157" y="2468880"/>
            <a:ext cx="32104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99A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60K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341157" y="384048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automated per quarter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72998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DM Mono"/>
                <a:ea typeface="DM Mono"/>
                <a:cs typeface="DM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rect">
            <a:avLst/>
          </a:prstGeom>
          <a:solidFill>
            <a:srgbClr val="008236"/>
          </a:solidFill>
          <a:ln w="12700">
            <a:solidFill>
              <a:srgbClr val="008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➔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106555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delivery surfaces, one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729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524348" cy="4572000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5524348" cy="640080"/>
          </a:xfrm>
          <a:prstGeom prst="rect">
            <a:avLst/>
          </a:prstGeom>
          <a:solidFill>
            <a:srgbClr val="008236"/>
          </a:solidFill>
          <a:ln w="12700">
            <a:solidFill>
              <a:srgbClr val="0082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51585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 companion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1585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➔"/>
            </a:pPr>
            <a:r>
              <a:rPr lang="en-US" sz="12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edits and chat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➔"/>
            </a:pPr>
            <a:r>
              <a:rPr lang="en-US" sz="12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context engine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➔"/>
            </a:pPr>
            <a:r>
              <a:rPr lang="en-US" sz="12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Zero-config setup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0148" y="1691640"/>
            <a:ext cx="5524348" cy="4572000"/>
          </a:xfrm>
          <a:prstGeom prst="rect">
            <a:avLst/>
          </a:prstGeom>
          <a:solidFill>
            <a:srgbClr val="008236"/>
          </a:solidFill>
          <a:ln w="6350">
            <a:solidFill>
              <a:srgbClr val="0082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0148" y="1691640"/>
            <a:ext cx="5524348" cy="640080"/>
          </a:xfrm>
          <a:prstGeom prst="rect">
            <a:avLst/>
          </a:prstGeom>
          <a:solidFill>
            <a:srgbClr val="008236"/>
          </a:solidFill>
          <a:ln w="12700">
            <a:solidFill>
              <a:srgbClr val="0082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3028" y="1691640"/>
            <a:ext cx="51585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automation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93028" y="2468880"/>
            <a:ext cx="51585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➔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PR-triggered agents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➔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Companion-branch workflow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➔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results back as comments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72998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DM Mono"/>
                <a:ea typeface="DM Mono"/>
                <a:cs typeface="DM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rect">
            <a:avLst/>
          </a:prstGeom>
          <a:solidFill>
            <a:srgbClr val="008236"/>
          </a:solidFill>
          <a:ln w="12700">
            <a:solidFill>
              <a:srgbClr val="008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➔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106555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Understanding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729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06698" cy="411480"/>
          </a:xfrm>
          <a:prstGeom prst="rect">
            <a:avLst/>
          </a:prstGeom>
          <a:solidFill>
            <a:srgbClr val="008236"/>
          </a:solidFill>
          <a:ln w="12700">
            <a:solidFill>
              <a:srgbClr val="0082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32409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CORPORATE OBJECTIVES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606698" cy="4160520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86000"/>
            <a:ext cx="3149498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00823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FY26 GOALS</a:t>
            </a:r>
            <a:endParaRPr lang="en-US" sz="800" dirty="0"/>
          </a:p>
          <a:p>
            <a:pPr marL="177800" indent="-177800">
              <a:spcAft>
                <a:spcPts val="400"/>
              </a:spcAft>
              <a:buSzPct val="100000"/>
              <a:buChar char="➔"/>
            </a:pPr>
            <a:r>
              <a:rPr lang="en-US" sz="10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 ARR 2x</a:t>
            </a:r>
            <a:endParaRPr lang="en-US" sz="800" dirty="0"/>
          </a:p>
          <a:p>
            <a:pPr marL="177800" indent="-177800">
              <a:spcAft>
                <a:spcPts val="400"/>
              </a:spcAft>
              <a:buSzPct val="100000"/>
              <a:buChar char="➔"/>
            </a:pPr>
            <a:r>
              <a:rPr lang="en-US" sz="10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EMEA</a:t>
            </a:r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00823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NORTH STAR</a:t>
            </a:r>
            <a:endParaRPr lang="en-US" sz="800" dirty="0"/>
          </a:p>
          <a:p>
            <a:pPr marL="177800" indent="-177800">
              <a:spcAft>
                <a:spcPts val="400"/>
              </a:spcAft>
              <a:buSzPct val="100000"/>
              <a:buChar char="➔"/>
            </a:pPr>
            <a:r>
              <a:rPr lang="en-US" sz="10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Time-to-PR &lt; 1h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92498" y="1691640"/>
            <a:ext cx="3606698" cy="411480"/>
          </a:xfrm>
          <a:prstGeom prst="rect">
            <a:avLst/>
          </a:prstGeom>
          <a:solidFill>
            <a:srgbClr val="008236"/>
          </a:solidFill>
          <a:ln w="12700">
            <a:solidFill>
              <a:srgbClr val="008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5378" y="1691640"/>
            <a:ext cx="32409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BUSINESS STRATEGIES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2498" y="2103120"/>
            <a:ext cx="3606698" cy="4160520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1098" y="2286000"/>
            <a:ext cx="3149498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➔"/>
            </a:pPr>
            <a:r>
              <a:rPr lang="en-US" sz="12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Land-and-expand in mid-market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➔"/>
            </a:pPr>
            <a:r>
              <a:rPr lang="en-US" sz="12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Tier-1 partner integrations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➔"/>
            </a:pPr>
            <a:r>
              <a:rPr lang="en-US" sz="12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Verticalized go-to-market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7797" y="1691640"/>
            <a:ext cx="3606698" cy="411480"/>
          </a:xfrm>
          <a:prstGeom prst="rect">
            <a:avLst/>
          </a:prstGeom>
          <a:solidFill>
            <a:srgbClr val="008236"/>
          </a:solidFill>
          <a:ln w="12700">
            <a:solidFill>
              <a:srgbClr val="0082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0677" y="1691640"/>
            <a:ext cx="32409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ENGINEERING INITIATIVES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27797" y="2103120"/>
            <a:ext cx="3606698" cy="4160520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6397" y="2286000"/>
            <a:ext cx="3149498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the unified context engine, lift agent throughput, and harden the multi-tenant deploy path.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72998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DM Mono"/>
                <a:ea typeface="DM Mono"/>
                <a:cs typeface="DM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823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WRAP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Questions, ideas, requests — we read them all.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72998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DM Mono"/>
                <a:ea typeface="DM Mono"/>
                <a:cs typeface="DM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Augment 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Augment Style Sample Deck</dc:title>
  <dc:subject>PptxGenJS Presentation</dc:subject>
  <dc:creator>Augment Code</dc:creator>
  <cp:lastModifiedBy>Augment Code</cp:lastModifiedBy>
  <cp:revision>1</cp:revision>
  <dcterms:created xsi:type="dcterms:W3CDTF">2026-04-28T21:30:14Z</dcterms:created>
  <dcterms:modified xsi:type="dcterms:W3CDTF">2026-04-28T21:30:14Z</dcterms:modified>
</cp:coreProperties>
</file>